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 terjual</c:v>
                </c:pt>
              </c:strCache>
            </c:strRef>
          </c:tx>
          <c:spPr>
            <a:solidFill>
              <a:srgbClr val="2A8C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Roti Cokelat</c:v>
                  </c:pt>
                  <c:pt idx="1">
                    <c:v>Es Cokelat</c:v>
                  </c:pt>
                  <c:pt idx="2">
                    <c:v>Teh Lemon</c:v>
                  </c:pt>
                  <c:pt idx="3">
                    <c:v>Nasi Goreng</c:v>
                  </c:pt>
                  <c:pt idx="4">
                    <c:v>Pisang Goreng</c:v>
                  </c:pt>
                  <c:pt idx="5">
                    <c:v>Kopi Susu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18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Omzet (ribu Rp)</c:v>
                </c:pt>
              </c:strCache>
            </c:strRef>
          </c:tx>
          <c:spPr>
            <a:solidFill>
              <a:srgbClr val="E088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Roti Cokelat</c:v>
                  </c:pt>
                  <c:pt idx="1">
                    <c:v>Pisang Goreng</c:v>
                  </c:pt>
                  <c:pt idx="2">
                    <c:v>Teh Lemon</c:v>
                  </c:pt>
                  <c:pt idx="3">
                    <c:v>Es Cokelat</c:v>
                  </c:pt>
                  <c:pt idx="4">
                    <c:v>Nasi Goreng</c:v>
                  </c:pt>
                  <c:pt idx="5">
                    <c:v>Kopi Susu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</c:v>
                </c:pt>
                <c:pt idx="1">
                  <c:v>144</c:v>
                </c:pt>
                <c:pt idx="2">
                  <c:v>168</c:v>
                </c:pt>
                <c:pt idx="3">
                  <c:v>224</c:v>
                </c:pt>
                <c:pt idx="4">
                  <c:v>330</c:v>
                </c:pt>
                <c:pt idx="5">
                  <c:v>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mengingatkan bahwa Minggu 6 adalah minggu terakhir materi baru sebelum UTS. Hasil akhirnya: satu halaman laporan Streamlit yang bisa dipakai sebagai bukti kemajuan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keenam tujuan secara singkat. Tekankan bahwa semua tujuan dicapai langsung di Streamlit, bukan latihan SQL terpisah di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Minggu 4 sudah mengenalkan COUNT, SUM, st.metric, dan bar_chart dari satu tabel. Bedanya Minggu 6: dua tabel berelasi, filter yang mengubah semua angka sekaligus, HAVING, tab, dan ekspor.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menghitung manual dulu sebelum slide angka di kanan muncul. Angka 157.000, 4, dan 39.250 nanti dicocokkan di aplikasi dengan filter 03/08–07/08/2026.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tidak dipakai di kartu aplikasi, tetapi penting dikenal. Sebutkan bahwa hasil di kartu bawah adalah angka acuan yang harus muncul di aplikasi mahasiswa.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90 menit: review dan jalankan kode (10'), kartu ringkasan (20'), filter sidebar (20'), laporan per produk + HAVING (25'), uji (10'), rangkuman (5').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database dibuat dan diisi otomatis saat aplikasi pertama dijalankan. Jika angka kartu berbeda dari Rp1.489.000, hapus penjualan_m6.db lalu jalankan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penting: f-string hanya menyusun jumlah tanda tanya, bukan nilai. Nilai pilihan pengguna dikirim lewat params sehingga aman dari SQL injection dan masalah tanda kutip.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sambil menunjuk query get_report_by_product di VS Code. WHERE bekerja pada baris, HAVING bekerja pada kelompok.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di kelas: slider Rp200.000 → hanya Kopi Susu, Nasi Goreng, Es Cokelat. Tunjukkan kartu ringkasan tidak berubah karena tidak memakai HAVING.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keempat kasus. st.stop() menghentikan sisa skrip pada putaran ini, sehingga kode di bawahnya tidak dijalankan dengan data yang belum siap.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Pisang Goreng nomor 2 menurut unit, tetapi nomor 5 menurut omzet. Diskusikan: laporan unit untuk keputusan stok, laporan omzet untuk keputusan harga/promosi.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Cocokkan angka acuan bersama-sama di kelas. Kasus 03–07 Agustus menghubungkan hitung manual di awal pertemuan dengan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90 menit: review (10'), tab + laporan kategori/bulan (20'), grafik (15'), ekspor CSV (25'), rekonsiliasi + uji (15'), refleksi (5').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pola show_report: satu fungsi dipakai empat tab, sehingga tampilan, nama file, dan penanganan data kosong seragam. key unik mencegah StreamlitDuplicateElementId.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file hasil unduhan di Excel. Excel berbahasa Indonesia memakai koma sebagai desimal sehingga pemisah kolomnya titik koma. Jika file untuk Google Sheets atau sistem lain, sep boleh diganti koma — yang penting disepakati.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Ubah filter ke September + Minuman: keempat total menjadi Rp485.000 dan pesan tetap hijau. Total tab Per Produk tidak dimasukkan karena HAVING bisa membuang produk; saat slider 0 totalnya juga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Paling sering: Streamlit versi lama (sort/horizontal belum ada) dan jumlah tanda tanya tidak sama dengan jumlah params.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halaman laporan ini akan dipakai sebagai bukti kemajuan proyek menjelang 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4 paling penting untuk diskusi bisnis: laporan unit untuk stok, laporan omzet untuk harga/promosi.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— Laporan Agregat dan Ekspor CSV di Streamlit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buku kas harian menjadi laporan yang bisa difilter, ditelusuri, dan dibagikan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2788920"/>
            <a:ext cx="1005840" cy="329184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88920"/>
            <a:ext cx="1005840" cy="329184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788920"/>
            <a:ext cx="1005840" cy="32918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788920"/>
            <a:ext cx="1005840" cy="329184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AB-2B • 2 pertemuan × 90 menit • Studi kasus: Kedai Rasa (data simulasi)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akhir Minggu 6, mahasiswa mampu: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234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detail (baris transaksi) dan data ringkasan (hasil agregasi)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97280"/>
            <a:ext cx="2606040" cy="6400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1234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MAX lalu menampilkannya dengan st.metric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097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97280"/>
            <a:ext cx="260604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1234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tanggal &amp; kategori ke query lewat parameter 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697480"/>
            <a:ext cx="2606040" cy="64008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 produk, kategori, bulan dengan GROUP BY dan HAVING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4612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697480"/>
            <a:ext cx="2606040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Menyajikan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dalam st.tabs, format rupiah, dan kondisi tanpa data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3504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2697480"/>
            <a:ext cx="260604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Mengekspor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172200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yang sama dengan tampilan, lalu mencocokkan angka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Minggu 6 dalam Alur Belajar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minggu menambah satu lapisan pada aplikasi Kedai Rasa.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dengan SQLite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2560320" y="132588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8C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032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&amp; rekap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65176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rekap satu tabel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912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4663440" y="132588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6344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mutu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548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validasi, relasi, JOIN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6766560" y="1325880"/>
            <a:ext cx="1828800" cy="1737360"/>
          </a:xfrm>
          <a:prstGeom prst="rect">
            <a:avLst/>
          </a:prstGeom>
          <a:solidFill>
            <a:srgbClr val="E0883A"/>
          </a:solidFill>
          <a:ln w="19050">
            <a:solidFill>
              <a:srgbClr val="E088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665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agregasi, tab, ekspor CSV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sales adalah buku kas harian. Pemilik usaha tidak membaca buku kas lembar per lembar — ia butuh rekap yang tetap bisa ditelusuri kembali ke buku kas.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Detail vs Data Ringkasan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transaksi pertama Kedai Rasa, 3–7 Agustus 2026.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34440"/>
                <a:gridCol w="868680"/>
                <a:gridCol w="5943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Kopi Susu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 Cokelat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Nasi Goreng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 Lemon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DETAIL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94960" y="1920240"/>
            <a:ext cx="548640" cy="457200"/>
          </a:xfrm>
          <a:prstGeom prst="rightArrow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1887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63640" y="1188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Rp157.000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 (SUM)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8745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3640" y="1874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589520" y="18745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(COUNT)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25603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6364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Rp39.250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589520" y="25603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(AVG)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264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RINGKASAN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baris mudah dihitung manual. Ratusan baris? Serahkan pada fungsi agregasi SQL.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Fungsi Agregasi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pertanyaan bisnis untuk tiap fungsi — hasil dari 30 transaksi simulasi.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536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88720"/>
            <a:ext cx="1536192" cy="64008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18288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transaksi terjadi?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30552" y="1188720"/>
            <a:ext cx="1536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30552" y="1188720"/>
            <a:ext cx="1536192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30552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SUM(total)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240280" y="18288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total omzet?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30552" y="29718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Rp1.489.000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803904" y="1188720"/>
            <a:ext cx="1536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03904" y="1188720"/>
            <a:ext cx="1536192" cy="6400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AVG(total)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13632" y="18288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rata-rata per transaksi?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03904" y="29718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Rp49.633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77256" y="1188720"/>
            <a:ext cx="1536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7256" y="1188720"/>
            <a:ext cx="1536192" cy="64008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77256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MAX(total)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86984" y="18288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transaksi terbesar?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77256" y="29718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Rp90.000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150608" y="1188720"/>
            <a:ext cx="1536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50608" y="1188720"/>
            <a:ext cx="1536192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5060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MIN(total)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60336" y="18288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transaksi terkecil?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50608" y="29718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Rp20.000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tidak ada baris yang lolos filter: COUNT = 0, tetapi SUM/AVG/MAX = NULL → pakai COALESCE(..., 0).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09728" cy="1417320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Laporan dengan Filter dan Agregasi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pemantik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“Berapa omzet minuman bulan September, dan berapa rata-rata nilai satu transaksi?” Bagaimana aplikasi menjawabnya tanpa menghitung baris satu per satu?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yang Kita Bangun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pdb-minggu-06 → app.py + penjualan_m6.db (diisi 30 transaksi simulasi otomatis).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9768" y="1069848"/>
            <a:ext cx="5175504" cy="32552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C:\D\MEDIA\KULIAH\POLINES\PemrogramanDataBisnis\bahan-ajar\minggu-06\sumber-slide\gambar\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3200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806440" y="1097280"/>
            <a:ext cx="64008" cy="658368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893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Sidebar filter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893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Periode, kategori, omzet minimum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06440" y="1901952"/>
            <a:ext cx="64008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8932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Kartu ringkasan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89320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 + st.metric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06440" y="2706624"/>
            <a:ext cx="64008" cy="658368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8932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Laporan per produk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989320" y="3026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HAVING + format rupiah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806440" y="3511296"/>
            <a:ext cx="64008" cy="65836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89320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Detail transaksi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98932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menelusuri angka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806440" y="4343400"/>
            <a:ext cx="28803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run app.py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Sidebar → WHERE dengan Parameter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fungsi menyusun WHERE; semua laporan memakai hasil yang sama.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48463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build_filter(start_date, end_date, categories):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placeholders = ", ".join("?" for _ in categories)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where_sql = 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"WHERE sales.sale_date BETWEEN ? AND ? 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f"AND products.category IN ({placeholders})"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[start_date.isoformat(),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end_date.isoformat(), *categories]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where_sql, params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Pilihan: September, Minuman + Makanan menghasilkan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4846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BETWEEN ? AND ? AND products.category IN (?, ?)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['2026-09-01', '2026-09-30', 'Minuman', 'Makanan']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1097280"/>
            <a:ext cx="3108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1097280"/>
            <a:ext cx="310896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1234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15000" y="1554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dikirim terpisah lewat params. Database yang memasangkan nilai ke setiap tanda ?.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2697480"/>
            <a:ext cx="3108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2697480"/>
            <a:ext cx="3108960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2834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15000" y="3154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f"... category = '{kategori}'"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input ditempel ke teks SQL → rawan SQL injection dan error tanda kutip.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Kerja Query Laporan per Produk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SELECT dulu, tetapi database bekerja dengan urutan ini.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86968" y="1188720"/>
            <a:ext cx="457200" cy="457200"/>
          </a:xfrm>
          <a:prstGeom prst="ellipse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14173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5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… JOIN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satukan transaksi dengan nama &amp; kategori produk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0" y="1188720"/>
            <a:ext cx="457200" cy="457200"/>
          </a:xfrm>
          <a:prstGeom prst="ellipse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70632" y="14173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56232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901952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buang baris di luar periode / kategori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85032" y="118872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850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69664" y="14173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55264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300984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baris dengan produk yang sama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84064" y="11887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8406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568696" y="14173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54296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/ SUM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00016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per kelompok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83096" y="1188720"/>
            <a:ext cx="457200" cy="457200"/>
          </a:xfrm>
          <a:prstGeom prst="ellipse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830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967728" y="14173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53328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8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099048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buang kelompok di bawah omzet minimum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882128" y="1188720"/>
            <a:ext cx="457200" cy="45720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8212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452360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498080" y="20574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omzet terbesar dulu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57200" y="2971800"/>
            <a:ext cx="82296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306324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products.name AS produk, ..., SUM(sales.total) AS omzet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 JOIN products ON products.id = sales.product_id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sales.sale_date BETWEEN ? AND ? AND products.category IN (...)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products.id, products.name, products.category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SUM(sales.total) &gt;= ?          -- nilai slider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omzet DESC, produk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menyaring, tetapi pada tahap yang berbeda.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disaring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transaksi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 hasil GROUP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bekerja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Sebelum pengelompokan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Sesudah agregasi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memakai SUM(...)?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aplikasi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 dan kategori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Omzet minimum per produk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omzet minimum = Rp200.000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0" y="1508760"/>
            <a:ext cx="3017520" cy="310896"/>
          </a:xfrm>
          <a:prstGeom prst="rect">
            <a:avLst/>
          </a:prstGeom>
          <a:solidFill>
            <a:srgbClr val="E8F3EE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1508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 Susu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06640" y="1508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513.000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1874520"/>
            <a:ext cx="3017520" cy="310896"/>
          </a:xfrm>
          <a:prstGeom prst="rect">
            <a:avLst/>
          </a:prstGeom>
          <a:solidFill>
            <a:srgbClr val="E8F3EE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1874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 Goreng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06640" y="1874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330.000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0" y="2240280"/>
            <a:ext cx="3017520" cy="310896"/>
          </a:xfrm>
          <a:prstGeom prst="rect">
            <a:avLst/>
          </a:prstGeom>
          <a:solidFill>
            <a:srgbClr val="E8F3EE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2240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Cokelat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06640" y="2240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224.000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0" y="2606040"/>
            <a:ext cx="3017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2606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Lemon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406640" y="2606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168.000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9280" y="2971800"/>
            <a:ext cx="3017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0" y="2971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Pisang Goreng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406640" y="2971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144.000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669280" y="3337560"/>
            <a:ext cx="3017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60720" y="33375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 Cokelat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40664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110.000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SUM(...) di WHERE → error “misuse of aggregate function”.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Baru dan Kondisi Tanpa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tidak boleh error saat filter belum lengkap atau hasilnya kosong.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st.sidebar: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menaruh filter di panel kiri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st.date_input(value=(awal, akhir))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memilih rentang tanggal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st.multiselect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memilih beberapa kategori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st.slider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batas omzet minimum (HAVING)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st.columns + st.metric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angka ringkasan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st.column_config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judul kolom &amp; format rupiah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937760" y="1097280"/>
            <a:ext cx="3749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097280"/>
            <a:ext cx="3749040" cy="64008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74920" y="12344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belum lengkap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7492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satu tanggal diklik → st.info + st.stop()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37760" y="1938528"/>
            <a:ext cx="3749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0" y="1938528"/>
            <a:ext cx="3749040" cy="64008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74920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kosong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74920" y="2395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dihapus → st.warning + st.stop()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37760" y="2779776"/>
            <a:ext cx="3749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37760" y="2779776"/>
            <a:ext cx="3749040" cy="6400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2916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tanpa transaksi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74920" y="3236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 → kartu Rp0 (COALESCE) + info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937760" y="3621024"/>
            <a:ext cx="3749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37760" y="3621024"/>
            <a:ext cx="3749040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3758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terlalu tinggi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74920" y="40782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produk kosong → st.info; kartu tetap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“Terlaris” Menurut Apa?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 produk, seluruh periode (03/08–30/09/2026).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terjual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325880"/>
          <a:ext cx="3931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 (ribu Rp)</a:t>
            </a:r>
            <a:endParaRPr lang="en-US" sz="13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754880" y="1325880"/>
          <a:ext cx="3931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Pisang Goreng: 18 unit (peringkat 2) tetapi omzet Rp144.000 (peringkat 5). Sebutkan dasar urutannya!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Pertemuan 6.1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hasilnya di catatan-pengujian.txt.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46304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Omzet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Terbesar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03/08–30/09/2026, semua kategori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Rp1.489.000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Rp49.633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Rp90.000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03/08–07/08/2026 (hitung 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Rp157.000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Rp39.250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Rp48.000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Agustus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Rp690.000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Rp78.000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Rp799.000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Rp53.267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Rp90.000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2026, hanya Minuman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Rp485.000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Rp60.625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Rp90.000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Oktober 2026 (kosong)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6.1: filter mengubah kartu, laporan produk, dan detail bersama-sama • slider bekerja sebagai HAVING • kondisi kosong tidak error.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109728" cy="1417320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Bertab, Grafik, dan Ekspor CSV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pemantik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sudah tampil di aplikasi. Bagaimana pemilik usaha membagikannya ke akuntan, dan bagaimana mereka yakin angkanya benar?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Tab, Satu Filter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 mengatur tampilan; semua tab memakai where_sql dan params yang sama.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9768" y="1069848"/>
            <a:ext cx="4901184" cy="199861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C:\D\MEDIA\KULIAH\POLINES\PemrogramanDataBisnis\bahan-ajar\minggu-06\sumber-slide\gambar\kategori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846320" cy="194374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291840"/>
            <a:ext cx="48463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tab_product, tab_category, tab_month, tab_detail = st.tabs(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["Per Produk", "Per Kategori", "Per Bulan", "Detail Transaksi"]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tab_product: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577840" y="1097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Bulan: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strftime('%Y-%m', sale_date) → '2026-09'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show_report():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→ tombol Unduh CSV; kembalikan False jika kosong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sort="-omzet", horizontal=True; line_chart untuk bulan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unik: 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key=f"download_{file_stem}"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CSV yang Rapi di Excel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yang sama → tabel di layar dan isi file CSV.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45720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8872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to_csv_bytes(table):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table.to_csv(index=False, sep=";")\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.encode("utf-8-sig")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st.download_button("Unduh CSV",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data=to_csv_bytes(table),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file_name=f"{file_stem}_{start_date}_{end_date}.csv",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mime="text/csv", key=f"download_{file_stem}")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laporan-kategori_2026-08-03_2026-09-30.csv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45720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2004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kategori;jumlah_transaksi;unit_terjual;omzet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Minuman;16;62;905000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Makanan;10;26;440000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Camilan;4;18;144000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1097280"/>
            <a:ext cx="33832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0" y="1097280"/>
            <a:ext cx="3383280" cy="64008"/>
          </a:xfrm>
          <a:prstGeom prst="rect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234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index=False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155448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baris internal pandas tidak ikut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03520" y="1883664"/>
            <a:ext cx="33832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1883664"/>
            <a:ext cx="3383280" cy="6400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20208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sep=";"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234086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Indonesia langsung membagi kolom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03520" y="2670048"/>
            <a:ext cx="33832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0" y="2670048"/>
            <a:ext cx="338328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28072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utf-8-sig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40680" y="312724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&amp; simbol tidak rusak di Excel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303520" y="3456432"/>
            <a:ext cx="33832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0" y="3456432"/>
            <a:ext cx="3383280" cy="64008"/>
          </a:xfrm>
          <a:prstGeom prst="rect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40680" y="3593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tanpa titik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40680" y="39136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513000 tetap angka, bisa =SUM()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Rekonsiliasi: Buktikan Angkanya Cocok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cara menghitung, satu hasil — karena berasal dari baris yang sama.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274320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C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0972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Omzet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0972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274320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A8C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8288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Per Kategori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omzet kategori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18288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274320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Per Bulan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omzet bulan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25603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274320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E088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329184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Detail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total baris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0" y="32918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703320" y="1737360"/>
            <a:ext cx="1645920" cy="1188720"/>
          </a:xfrm>
          <a:prstGeom prst="rect">
            <a:avLst/>
          </a:prstGeom>
          <a:solidFill>
            <a:srgbClr val="E8F3EE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1737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Rp1.489.000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sama 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58968" y="1069848"/>
            <a:ext cx="3255264" cy="115540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0" descr="C:\D\MEDIA\KULIAH\POLINES\PemrogramanDataBisnis\bahan-ajar\minggu-06\sumber-slide\gambar\reko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110054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0" y="2514600"/>
            <a:ext cx="3200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2356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len(set(checks.values())) == 1: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st.success("Semua total cocok...")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st.error("Ada total yang berbeda...")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yang dibagikan harus bisa ditelusuri kembali ke data detail.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Sering Muncul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pesan error dari bawah; cocokkan dengan tabel ini.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Gejala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keyword argument 'sort'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versi 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-m pip install --upgrade 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number of bindings supplied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? ≠ jumlah 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periksa build_filter dan nilai HAVING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misuse of aggregate function sum()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SUM(...) di 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pindahkan ke HAVING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StreamlitDuplicateElementId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tombol unduh label &amp; isi sama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 key unik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CSV menumpuk di kolom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pemisah tidak cocok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→ From Text/CSV, pilih 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Angka beda dari angka acuan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simulasi berubah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penjualan_m6.db, jalankan ulang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Dikumpulkan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folder/arsip — tanpa .venv, kata sandi, token, atau data nyata.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1536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akhir Pertemuan 6.2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234440"/>
            <a:ext cx="502920" cy="502920"/>
          </a:xfrm>
          <a:prstGeom prst="ellipse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49240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 CSV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49240" y="1536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misalnya Per Kategori &amp; Per Produk, periode dicatat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43000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catatan-pengujian.txt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4300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6.1 &amp; 6.2, minimal satu rekonsiliasi angka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560320"/>
            <a:ext cx="502920" cy="502920"/>
          </a:xfrm>
          <a:prstGeom prst="ellipse">
            <a:avLst/>
          </a:prstGeom>
          <a:solidFill>
            <a:srgbClr val="E0883A"/>
          </a:solidFill>
          <a:ln w="12700">
            <a:solidFill>
              <a:srgbClr val="E088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49240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4924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laporan dengan panel Cek kecocokan angka terbuka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balik: ketepatan angka • filter lewat parameter • GROUP BY/HAVING/ORDER BY sesuai tujuan • data kosong tidak error • penyajian rapi • CSV sesuai tampilan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dan Menuju UTS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singkat di catatan pengujian.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21040" y="228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Data Bisnis • Minggu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perbedaan WHERE dan HAVING? Beri contoh dari aplikasi.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nilai filter dikirim lewat parameter ?, bukan ditempel ke teks SQL?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pada SUM dan AVG jika tidak ada data, dan bagaimana aplikasi mengatasinya?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Pisang Goreng: unit lebih banyak, omzet lebih kecil. Laporan mana untuk keputusan stok, mana untuk harga?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laporan perlu bisa diekspor ke CSV dan ditelusuri ke data detail?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097280"/>
            <a:ext cx="2834640" cy="2514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2344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0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Ringkasnya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memilih baris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mengelompokkan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menghitung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menyaring kelompok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mengurutkan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untuk berbagi, rekonsiliasi untuk percaya.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Minggu 6 — Laporan Agregat dan Ekspor CSV di Streamlit</dc:title>
  <dc:subject>PptxGenJS Presentation</dc:subject>
  <dc:creator>Pemrograman Data Bisnis</dc:creator>
  <cp:lastModifiedBy>Pemrograman Data Bisnis</cp:lastModifiedBy>
  <cp:revision>1</cp:revision>
  <dcterms:created xsi:type="dcterms:W3CDTF">2026-10-07T04:55:55Z</dcterms:created>
  <dcterms:modified xsi:type="dcterms:W3CDTF">2026-10-07T04:55:55Z</dcterms:modified>
</cp:coreProperties>
</file>